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6256000" cy="9144000"/>
  <p:notesSz cx="9144000" cy="16256000"/>
  <p:embeddedFontLst>
    <p:embeddedFont>
      <p:font typeface="Liter" charset="-122" pitchFamily="34"/>
      <p:regular r:id="rId11"/>
    </p:embeddedFont>
    <p:embeddedFont>
      <p:font typeface="Quattrocento Sans" charset="-122" pitchFamily="34"/>
      <p:regular r:id="rId1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font" Target="fonts/font1.fntdata"/><Relationship Id="rId1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2oxk26ynnhm56/mnt/agents/output/vittam-pitch/images/5_100_977_Dark_Trading_Background_Royalty.png">    </p:cNvPr>
          <p:cNvPicPr>
            <a:picLocks noChangeAspect="1"/>
          </p:cNvPicPr>
          <p:nvPr/>
        </p:nvPicPr>
        <p:blipFill>
          <a:blip r:embed="rId1"/>
          <a:srcRect l="222" r="222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A0E14">
                  <a:alpha val="94000"/>
                </a:srgbClr>
              </a:gs>
              <a:gs pos="45000">
                <a:srgbClr val="0A0E14">
                  <a:alpha val="82000"/>
                </a:srgbClr>
              </a:gs>
              <a:gs pos="75000">
                <a:srgbClr val="0A0E14">
                  <a:alpha val="38000"/>
                </a:srgbClr>
              </a:gs>
              <a:gs pos="100000">
                <a:srgbClr val="0A0E14">
                  <a:alpha val="1300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1016000" y="2984500"/>
            <a:ext cx="1016000" cy="381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2"/>
          <p:cNvSpPr/>
          <p:nvPr/>
        </p:nvSpPr>
        <p:spPr>
          <a:xfrm>
            <a:off x="1016000" y="3238500"/>
            <a:ext cx="7620000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200" b="1" spc="400" kern="0" dirty="0">
                <a:solidFill>
                  <a:srgbClr val="D4A8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VITTAM 2.0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1016000" y="4318000"/>
            <a:ext cx="6985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E8EC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Dynamic Volatility Regime Modeler — Agentic AI That Rewrites Its Own Forecasting Logic in Real-Time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1016000" y="5588000"/>
            <a:ext cx="4826000" cy="45720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8" name="Text 5"/>
          <p:cNvSpPr/>
          <p:nvPr/>
        </p:nvSpPr>
        <p:spPr>
          <a:xfrm>
            <a:off x="1016000" y="5588000"/>
            <a:ext cx="482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spc="200" kern="0" dirty="0">
                <a:solidFill>
                  <a:srgbClr val="D4A8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OUTSKILL x OPENAI BUILDERS HACKATHON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0" y="9093200"/>
            <a:ext cx="16256000" cy="50800"/>
          </a:xfrm>
          <a:prstGeom prst="rect">
            <a:avLst/>
          </a:prstGeom>
          <a:solidFill>
            <a:srgbClr val="D4A843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8B9D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VITTAM 2.0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3970000" y="3048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spc="200" kern="0" dirty="0">
                <a:solidFill>
                  <a:srgbClr val="8B9D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 / 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889000"/>
            <a:ext cx="9525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200" kern="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COST OF STATIC MODELS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524000"/>
            <a:ext cx="762000" cy="381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968500"/>
            <a:ext cx="127000" cy="1270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7" name="Text 5"/>
          <p:cNvSpPr/>
          <p:nvPr/>
        </p:nvSpPr>
        <p:spPr>
          <a:xfrm>
            <a:off x="1041400" y="18796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MASSIVE LOSSES FROM ALPHA DECAY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41400" y="2286000"/>
            <a:ext cx="711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E8EC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Quant funds lose billions annually from alpha decay and sudden volatility regime shifts — flash crashes, liquidity evaporation.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62000" y="3683000"/>
            <a:ext cx="127000" cy="1270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0" name="Text 8"/>
          <p:cNvSpPr/>
          <p:nvPr/>
        </p:nvSpPr>
        <p:spPr>
          <a:xfrm>
            <a:off x="1041400" y="35941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STATIC ASSUMPTIONS FAIL catastrophically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41400" y="4000500"/>
            <a:ext cx="711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E8EC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GARCH, EWMA, HAR-RV models are inherently static. Their hardcoded assumptions break during structural regime shifts.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5397500"/>
            <a:ext cx="127000" cy="1270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3" name="Text 11"/>
          <p:cNvSpPr/>
          <p:nvPr/>
        </p:nvSpPr>
        <p:spPr>
          <a:xfrm>
            <a:off x="1041400" y="53086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SLOW MANUAL ADAPTATION CYCLES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41400" y="5715000"/>
            <a:ext cx="711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E8EC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Refitting models takes days or weeks of backtesting. Funds stay exposed or must halt trading entirely.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144000" y="1879600"/>
            <a:ext cx="6350000" cy="4445000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0" y="1879600"/>
            <a:ext cx="50800" cy="44450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7" name="Text 15"/>
          <p:cNvSpPr/>
          <p:nvPr/>
        </p:nvSpPr>
        <p:spPr>
          <a:xfrm>
            <a:off x="9525000" y="2286000"/>
            <a:ext cx="5588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8B9D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575800" y="3238500"/>
            <a:ext cx="304800" cy="406400"/>
          </a:xfrm>
          <a:custGeom>
            <a:avLst/>
            <a:gdLst/>
            <a:ahLst/>
            <a:cxnLst/>
            <a:rect l="l" t="t" r="r" b="b"/>
            <a:pathLst>
              <a:path w="304800" h="406400">
                <a:moveTo>
                  <a:pt x="134461" y="398939"/>
                </a:moveTo>
                <a:cubicBezTo>
                  <a:pt x="144383" y="408861"/>
                  <a:pt x="160496" y="408861"/>
                  <a:pt x="170418" y="398939"/>
                </a:cubicBezTo>
                <a:lnTo>
                  <a:pt x="297418" y="271939"/>
                </a:lnTo>
                <a:cubicBezTo>
                  <a:pt x="307340" y="262017"/>
                  <a:pt x="307340" y="245904"/>
                  <a:pt x="297418" y="235982"/>
                </a:cubicBezTo>
                <a:cubicBezTo>
                  <a:pt x="287496" y="226060"/>
                  <a:pt x="271383" y="226060"/>
                  <a:pt x="261461" y="235982"/>
                </a:cubicBezTo>
                <a:lnTo>
                  <a:pt x="177800" y="319643"/>
                </a:lnTo>
                <a:lnTo>
                  <a:pt x="177800" y="25400"/>
                </a:lnTo>
                <a:cubicBezTo>
                  <a:pt x="177800" y="11351"/>
                  <a:pt x="166449" y="0"/>
                  <a:pt x="152400" y="0"/>
                </a:cubicBezTo>
                <a:cubicBezTo>
                  <a:pt x="138351" y="0"/>
                  <a:pt x="127000" y="11351"/>
                  <a:pt x="127000" y="25400"/>
                </a:cubicBezTo>
                <a:lnTo>
                  <a:pt x="127000" y="319643"/>
                </a:lnTo>
                <a:lnTo>
                  <a:pt x="43339" y="235982"/>
                </a:lnTo>
                <a:cubicBezTo>
                  <a:pt x="33417" y="226060"/>
                  <a:pt x="17304" y="226060"/>
                  <a:pt x="7382" y="235982"/>
                </a:cubicBezTo>
                <a:cubicBezTo>
                  <a:pt x="-2540" y="245904"/>
                  <a:pt x="-2540" y="262017"/>
                  <a:pt x="7382" y="271939"/>
                </a:cubicBezTo>
                <a:lnTo>
                  <a:pt x="134382" y="398939"/>
                </a:lnTo>
                <a:close/>
              </a:path>
            </a:pathLst>
          </a:custGeom>
          <a:solidFill>
            <a:srgbClr val="D4A843"/>
          </a:solidFill>
          <a:ln/>
        </p:spPr>
      </p:sp>
      <p:sp>
        <p:nvSpPr>
          <p:cNvPr id="19" name="Text 17"/>
          <p:cNvSpPr/>
          <p:nvPr/>
        </p:nvSpPr>
        <p:spPr>
          <a:xfrm>
            <a:off x="9525000" y="3810000"/>
            <a:ext cx="5588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D4A8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MILLISECONDS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525000" y="4826000"/>
            <a:ext cx="558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8B9D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adaptation gap VITTAM 2.0 closes — from manual refitting to autonomous real-time model synthesis.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0" y="9093200"/>
            <a:ext cx="16256000" cy="50800"/>
          </a:xfrm>
          <a:prstGeom prst="rect">
            <a:avLst/>
          </a:prstGeom>
          <a:solidFill>
            <a:srgbClr val="D4A843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8B9D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VITTAM 2.0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3970000" y="3048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spc="200" kern="0" dirty="0">
                <a:solidFill>
                  <a:srgbClr val="8B9D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 / 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8890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200" kern="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SOLUTION: AGENTIC AI VOLATILITY FORECASTING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524000"/>
            <a:ext cx="762000" cy="381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752600"/>
            <a:ext cx="1270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8B9D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Autonomously rewrites its forecasting logic in real-time — shrinking research cycles from weeks to milliseconds.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2476500"/>
            <a:ext cx="2743200" cy="3302000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8" name="Shape 6"/>
          <p:cNvSpPr/>
          <p:nvPr/>
        </p:nvSpPr>
        <p:spPr>
          <a:xfrm>
            <a:off x="965200" y="2679700"/>
            <a:ext cx="457200" cy="4572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9" name="Text 7"/>
          <p:cNvSpPr/>
          <p:nvPr/>
        </p:nvSpPr>
        <p:spPr>
          <a:xfrm>
            <a:off x="965200" y="26797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0A0E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65200" y="33147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61131" y="0"/>
                </a:moveTo>
                <a:cubicBezTo>
                  <a:pt x="268506" y="0"/>
                  <a:pt x="355600" y="87094"/>
                  <a:pt x="355600" y="194469"/>
                </a:cubicBezTo>
                <a:cubicBezTo>
                  <a:pt x="355600" y="203706"/>
                  <a:pt x="348169" y="211138"/>
                  <a:pt x="338931" y="211138"/>
                </a:cubicBezTo>
                <a:cubicBezTo>
                  <a:pt x="329694" y="211138"/>
                  <a:pt x="322263" y="203706"/>
                  <a:pt x="322263" y="194469"/>
                </a:cubicBezTo>
                <a:cubicBezTo>
                  <a:pt x="322263" y="105499"/>
                  <a:pt x="250101" y="33337"/>
                  <a:pt x="161131" y="33337"/>
                </a:cubicBezTo>
                <a:cubicBezTo>
                  <a:pt x="151894" y="33337"/>
                  <a:pt x="144463" y="25906"/>
                  <a:pt x="144463" y="16669"/>
                </a:cubicBezTo>
                <a:cubicBezTo>
                  <a:pt x="144463" y="7431"/>
                  <a:pt x="151894" y="0"/>
                  <a:pt x="161131" y="0"/>
                </a:cubicBezTo>
                <a:close/>
                <a:moveTo>
                  <a:pt x="144463" y="83344"/>
                </a:moveTo>
                <a:cubicBezTo>
                  <a:pt x="144463" y="74106"/>
                  <a:pt x="151894" y="66675"/>
                  <a:pt x="161131" y="66675"/>
                </a:cubicBezTo>
                <a:cubicBezTo>
                  <a:pt x="231696" y="66675"/>
                  <a:pt x="288925" y="123904"/>
                  <a:pt x="288925" y="194469"/>
                </a:cubicBezTo>
                <a:cubicBezTo>
                  <a:pt x="288925" y="203706"/>
                  <a:pt x="281494" y="211138"/>
                  <a:pt x="272256" y="211138"/>
                </a:cubicBezTo>
                <a:cubicBezTo>
                  <a:pt x="263019" y="211138"/>
                  <a:pt x="255587" y="203706"/>
                  <a:pt x="255587" y="194469"/>
                </a:cubicBezTo>
                <a:cubicBezTo>
                  <a:pt x="255587" y="142309"/>
                  <a:pt x="213291" y="100013"/>
                  <a:pt x="161131" y="100013"/>
                </a:cubicBezTo>
                <a:cubicBezTo>
                  <a:pt x="151894" y="100013"/>
                  <a:pt x="144463" y="92581"/>
                  <a:pt x="144463" y="83344"/>
                </a:cubicBezTo>
                <a:close/>
                <a:moveTo>
                  <a:pt x="18336" y="99110"/>
                </a:moveTo>
                <a:cubicBezTo>
                  <a:pt x="24448" y="86678"/>
                  <a:pt x="40838" y="85288"/>
                  <a:pt x="50631" y="95081"/>
                </a:cubicBezTo>
                <a:lnTo>
                  <a:pt x="139879" y="184329"/>
                </a:lnTo>
                <a:lnTo>
                  <a:pt x="162104" y="162104"/>
                </a:lnTo>
                <a:cubicBezTo>
                  <a:pt x="170785" y="153422"/>
                  <a:pt x="184884" y="153422"/>
                  <a:pt x="193566" y="162104"/>
                </a:cubicBezTo>
                <a:cubicBezTo>
                  <a:pt x="202248" y="170785"/>
                  <a:pt x="202248" y="184884"/>
                  <a:pt x="193566" y="193566"/>
                </a:cubicBezTo>
                <a:lnTo>
                  <a:pt x="171341" y="215791"/>
                </a:lnTo>
                <a:lnTo>
                  <a:pt x="260588" y="305038"/>
                </a:lnTo>
                <a:cubicBezTo>
                  <a:pt x="270381" y="314831"/>
                  <a:pt x="268922" y="331153"/>
                  <a:pt x="256560" y="337334"/>
                </a:cubicBezTo>
                <a:cubicBezTo>
                  <a:pt x="232807" y="349071"/>
                  <a:pt x="206137" y="355669"/>
                  <a:pt x="177869" y="355669"/>
                </a:cubicBezTo>
                <a:cubicBezTo>
                  <a:pt x="79663" y="355669"/>
                  <a:pt x="69" y="276076"/>
                  <a:pt x="69" y="177869"/>
                </a:cubicBezTo>
                <a:cubicBezTo>
                  <a:pt x="69" y="149602"/>
                  <a:pt x="6667" y="122863"/>
                  <a:pt x="18405" y="99179"/>
                </a:cubicBezTo>
                <a:close/>
              </a:path>
            </a:pathLst>
          </a:custGeom>
          <a:solidFill>
            <a:srgbClr val="D4A843"/>
          </a:solidFill>
          <a:ln/>
        </p:spPr>
      </p:sp>
      <p:sp>
        <p:nvSpPr>
          <p:cNvPr id="11" name="Text 9"/>
          <p:cNvSpPr/>
          <p:nvPr/>
        </p:nvSpPr>
        <p:spPr>
          <a:xfrm>
            <a:off x="965200" y="3797300"/>
            <a:ext cx="2336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LIVE DETECTION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5200" y="4178300"/>
            <a:ext cx="23368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8B9D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Ingests high-frequency microstructural data (VPIN, OFI, RV) from live Binance exchange feeds.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505200" y="4064000"/>
            <a:ext cx="203200" cy="0"/>
          </a:xfrm>
          <a:prstGeom prst="straightConnector1">
            <a:avLst/>
          </a:prstGeom>
          <a:noFill/>
          <a:ln w="25400">
            <a:solidFill>
              <a:srgbClr val="D4A843"/>
            </a:solidFill>
            <a:prstDash val="solid"/>
            <a:headEnd type="none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3708400" y="2476500"/>
            <a:ext cx="2743200" cy="3302000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15" name="Shape 13"/>
          <p:cNvSpPr/>
          <p:nvPr/>
        </p:nvSpPr>
        <p:spPr>
          <a:xfrm>
            <a:off x="3911600" y="2679700"/>
            <a:ext cx="457200" cy="4572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6" name="Text 14"/>
          <p:cNvSpPr/>
          <p:nvPr/>
        </p:nvSpPr>
        <p:spPr>
          <a:xfrm>
            <a:off x="3911600" y="26797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0A0E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67150" y="3314700"/>
            <a:ext cx="444500" cy="355600"/>
          </a:xfrm>
          <a:custGeom>
            <a:avLst/>
            <a:gdLst/>
            <a:ahLst/>
            <a:cxnLst/>
            <a:rect l="l" t="t" r="r" b="b"/>
            <a:pathLst>
              <a:path w="444500" h="355600">
                <a:moveTo>
                  <a:pt x="244475" y="0"/>
                </a:moveTo>
                <a:cubicBezTo>
                  <a:pt x="244475" y="-12293"/>
                  <a:pt x="234543" y="-22225"/>
                  <a:pt x="222250" y="-22225"/>
                </a:cubicBezTo>
                <a:cubicBezTo>
                  <a:pt x="209957" y="-22225"/>
                  <a:pt x="200025" y="-12293"/>
                  <a:pt x="200025" y="0"/>
                </a:cubicBezTo>
                <a:lnTo>
                  <a:pt x="200025" y="44450"/>
                </a:lnTo>
                <a:lnTo>
                  <a:pt x="133350" y="44450"/>
                </a:lnTo>
                <a:cubicBezTo>
                  <a:pt x="96540" y="44450"/>
                  <a:pt x="66675" y="74315"/>
                  <a:pt x="66675" y="111125"/>
                </a:cubicBezTo>
                <a:lnTo>
                  <a:pt x="66675" y="266700"/>
                </a:lnTo>
                <a:cubicBezTo>
                  <a:pt x="66675" y="303510"/>
                  <a:pt x="96540" y="333375"/>
                  <a:pt x="133350" y="333375"/>
                </a:cubicBezTo>
                <a:lnTo>
                  <a:pt x="311150" y="333375"/>
                </a:lnTo>
                <a:cubicBezTo>
                  <a:pt x="347960" y="333375"/>
                  <a:pt x="377825" y="303510"/>
                  <a:pt x="377825" y="266700"/>
                </a:cubicBezTo>
                <a:lnTo>
                  <a:pt x="377825" y="111125"/>
                </a:lnTo>
                <a:cubicBezTo>
                  <a:pt x="377825" y="74315"/>
                  <a:pt x="347960" y="44450"/>
                  <a:pt x="311150" y="44450"/>
                </a:cubicBezTo>
                <a:lnTo>
                  <a:pt x="244475" y="44450"/>
                </a:lnTo>
                <a:lnTo>
                  <a:pt x="244475" y="0"/>
                </a:lnTo>
                <a:close/>
                <a:moveTo>
                  <a:pt x="111125" y="255587"/>
                </a:moveTo>
                <a:cubicBezTo>
                  <a:pt x="111125" y="246350"/>
                  <a:pt x="118556" y="238919"/>
                  <a:pt x="127794" y="238919"/>
                </a:cubicBezTo>
                <a:lnTo>
                  <a:pt x="150019" y="238919"/>
                </a:lnTo>
                <a:cubicBezTo>
                  <a:pt x="159256" y="238919"/>
                  <a:pt x="166688" y="246350"/>
                  <a:pt x="166688" y="255587"/>
                </a:cubicBezTo>
                <a:cubicBezTo>
                  <a:pt x="166688" y="264825"/>
                  <a:pt x="159256" y="272256"/>
                  <a:pt x="150019" y="272256"/>
                </a:cubicBezTo>
                <a:lnTo>
                  <a:pt x="127794" y="272256"/>
                </a:lnTo>
                <a:cubicBezTo>
                  <a:pt x="118556" y="272256"/>
                  <a:pt x="111125" y="264825"/>
                  <a:pt x="111125" y="255587"/>
                </a:cubicBezTo>
                <a:close/>
                <a:moveTo>
                  <a:pt x="194469" y="255587"/>
                </a:moveTo>
                <a:cubicBezTo>
                  <a:pt x="194469" y="246350"/>
                  <a:pt x="201900" y="238919"/>
                  <a:pt x="211138" y="238919"/>
                </a:cubicBezTo>
                <a:lnTo>
                  <a:pt x="233363" y="238919"/>
                </a:lnTo>
                <a:cubicBezTo>
                  <a:pt x="242600" y="238919"/>
                  <a:pt x="250031" y="246350"/>
                  <a:pt x="250031" y="255587"/>
                </a:cubicBezTo>
                <a:cubicBezTo>
                  <a:pt x="250031" y="264825"/>
                  <a:pt x="242600" y="272256"/>
                  <a:pt x="233363" y="272256"/>
                </a:cubicBezTo>
                <a:lnTo>
                  <a:pt x="211138" y="272256"/>
                </a:lnTo>
                <a:cubicBezTo>
                  <a:pt x="201900" y="272256"/>
                  <a:pt x="194469" y="264825"/>
                  <a:pt x="194469" y="255587"/>
                </a:cubicBezTo>
                <a:close/>
                <a:moveTo>
                  <a:pt x="277813" y="255587"/>
                </a:moveTo>
                <a:cubicBezTo>
                  <a:pt x="277813" y="246350"/>
                  <a:pt x="285244" y="238919"/>
                  <a:pt x="294481" y="238919"/>
                </a:cubicBezTo>
                <a:lnTo>
                  <a:pt x="316706" y="238919"/>
                </a:lnTo>
                <a:cubicBezTo>
                  <a:pt x="325944" y="238919"/>
                  <a:pt x="333375" y="246350"/>
                  <a:pt x="333375" y="255587"/>
                </a:cubicBezTo>
                <a:cubicBezTo>
                  <a:pt x="333375" y="264825"/>
                  <a:pt x="325944" y="272256"/>
                  <a:pt x="316706" y="272256"/>
                </a:cubicBezTo>
                <a:lnTo>
                  <a:pt x="294481" y="272256"/>
                </a:lnTo>
                <a:cubicBezTo>
                  <a:pt x="285244" y="272256"/>
                  <a:pt x="277813" y="264825"/>
                  <a:pt x="277813" y="255587"/>
                </a:cubicBezTo>
                <a:close/>
                <a:moveTo>
                  <a:pt x="155575" y="122238"/>
                </a:moveTo>
                <a:cubicBezTo>
                  <a:pt x="173974" y="122238"/>
                  <a:pt x="188913" y="137176"/>
                  <a:pt x="188913" y="155575"/>
                </a:cubicBezTo>
                <a:cubicBezTo>
                  <a:pt x="188913" y="173974"/>
                  <a:pt x="173974" y="188913"/>
                  <a:pt x="155575" y="188913"/>
                </a:cubicBezTo>
                <a:cubicBezTo>
                  <a:pt x="137176" y="188913"/>
                  <a:pt x="122238" y="173974"/>
                  <a:pt x="122238" y="155575"/>
                </a:cubicBezTo>
                <a:cubicBezTo>
                  <a:pt x="122238" y="137176"/>
                  <a:pt x="137176" y="122238"/>
                  <a:pt x="155575" y="122238"/>
                </a:cubicBezTo>
                <a:close/>
                <a:moveTo>
                  <a:pt x="255587" y="155575"/>
                </a:moveTo>
                <a:cubicBezTo>
                  <a:pt x="255587" y="137176"/>
                  <a:pt x="270526" y="122238"/>
                  <a:pt x="288925" y="122238"/>
                </a:cubicBezTo>
                <a:cubicBezTo>
                  <a:pt x="307324" y="122238"/>
                  <a:pt x="322263" y="137176"/>
                  <a:pt x="322263" y="155575"/>
                </a:cubicBezTo>
                <a:cubicBezTo>
                  <a:pt x="322263" y="173974"/>
                  <a:pt x="307324" y="188913"/>
                  <a:pt x="288925" y="188913"/>
                </a:cubicBezTo>
                <a:cubicBezTo>
                  <a:pt x="270526" y="188913"/>
                  <a:pt x="255587" y="173974"/>
                  <a:pt x="255587" y="155575"/>
                </a:cubicBezTo>
                <a:close/>
                <a:moveTo>
                  <a:pt x="44450" y="155575"/>
                </a:moveTo>
                <a:cubicBezTo>
                  <a:pt x="44450" y="143282"/>
                  <a:pt x="34518" y="133350"/>
                  <a:pt x="22225" y="133350"/>
                </a:cubicBezTo>
                <a:cubicBezTo>
                  <a:pt x="9932" y="133350"/>
                  <a:pt x="0" y="143282"/>
                  <a:pt x="0" y="155575"/>
                </a:cubicBezTo>
                <a:lnTo>
                  <a:pt x="0" y="222250"/>
                </a:lnTo>
                <a:cubicBezTo>
                  <a:pt x="0" y="234543"/>
                  <a:pt x="9932" y="244475"/>
                  <a:pt x="22225" y="244475"/>
                </a:cubicBezTo>
                <a:cubicBezTo>
                  <a:pt x="34518" y="244475"/>
                  <a:pt x="44450" y="234543"/>
                  <a:pt x="44450" y="222250"/>
                </a:cubicBezTo>
                <a:lnTo>
                  <a:pt x="44450" y="155575"/>
                </a:lnTo>
                <a:close/>
                <a:moveTo>
                  <a:pt x="422275" y="133350"/>
                </a:moveTo>
                <a:cubicBezTo>
                  <a:pt x="409982" y="133350"/>
                  <a:pt x="400050" y="143282"/>
                  <a:pt x="400050" y="155575"/>
                </a:cubicBezTo>
                <a:lnTo>
                  <a:pt x="400050" y="222250"/>
                </a:lnTo>
                <a:cubicBezTo>
                  <a:pt x="400050" y="234543"/>
                  <a:pt x="409982" y="244475"/>
                  <a:pt x="422275" y="244475"/>
                </a:cubicBezTo>
                <a:cubicBezTo>
                  <a:pt x="434568" y="244475"/>
                  <a:pt x="444500" y="234543"/>
                  <a:pt x="444500" y="222250"/>
                </a:cubicBezTo>
                <a:lnTo>
                  <a:pt x="444500" y="155575"/>
                </a:lnTo>
                <a:cubicBezTo>
                  <a:pt x="444500" y="143282"/>
                  <a:pt x="434568" y="133350"/>
                  <a:pt x="422275" y="133350"/>
                </a:cubicBezTo>
                <a:close/>
              </a:path>
            </a:pathLst>
          </a:custGeom>
          <a:solidFill>
            <a:srgbClr val="D4A843"/>
          </a:solidFill>
          <a:ln/>
        </p:spPr>
      </p:sp>
      <p:sp>
        <p:nvSpPr>
          <p:cNvPr id="18" name="Text 16"/>
          <p:cNvSpPr/>
          <p:nvPr/>
        </p:nvSpPr>
        <p:spPr>
          <a:xfrm>
            <a:off x="3911600" y="3797300"/>
            <a:ext cx="2336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AGENTIC SYNTHESIS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911600" y="4178300"/>
            <a:ext cx="23368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8B9D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RuFlo Multi-Agent Consensus Protocol triggers upon detecting a regime shift.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51600" y="4064000"/>
            <a:ext cx="203200" cy="0"/>
          </a:xfrm>
          <a:prstGeom prst="straightConnector1">
            <a:avLst/>
          </a:prstGeom>
          <a:noFill/>
          <a:ln w="25400">
            <a:solidFill>
              <a:srgbClr val="D4A843"/>
            </a:solidFill>
            <a:prstDash val="solid"/>
            <a:headEnd type="none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6654800" y="2476500"/>
            <a:ext cx="2743200" cy="3302000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22" name="Shape 20"/>
          <p:cNvSpPr/>
          <p:nvPr/>
        </p:nvSpPr>
        <p:spPr>
          <a:xfrm>
            <a:off x="6858000" y="2679700"/>
            <a:ext cx="457200" cy="4572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0" y="26797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0A0E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835775" y="33147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50587" y="833"/>
                </a:moveTo>
                <a:cubicBezTo>
                  <a:pt x="238780" y="-2570"/>
                  <a:pt x="226487" y="4306"/>
                  <a:pt x="223083" y="16113"/>
                </a:cubicBezTo>
                <a:lnTo>
                  <a:pt x="134183" y="327263"/>
                </a:lnTo>
                <a:cubicBezTo>
                  <a:pt x="130780" y="339070"/>
                  <a:pt x="137656" y="351363"/>
                  <a:pt x="149463" y="354767"/>
                </a:cubicBezTo>
                <a:cubicBezTo>
                  <a:pt x="161270" y="358170"/>
                  <a:pt x="173563" y="351294"/>
                  <a:pt x="176967" y="339487"/>
                </a:cubicBezTo>
                <a:lnTo>
                  <a:pt x="265867" y="28337"/>
                </a:lnTo>
                <a:cubicBezTo>
                  <a:pt x="269270" y="16530"/>
                  <a:pt x="262394" y="4237"/>
                  <a:pt x="250587" y="833"/>
                </a:cubicBezTo>
                <a:close/>
                <a:moveTo>
                  <a:pt x="295454" y="95359"/>
                </a:moveTo>
                <a:cubicBezTo>
                  <a:pt x="286772" y="104041"/>
                  <a:pt x="286772" y="118140"/>
                  <a:pt x="295454" y="126821"/>
                </a:cubicBezTo>
                <a:lnTo>
                  <a:pt x="346432" y="177800"/>
                </a:lnTo>
                <a:lnTo>
                  <a:pt x="295454" y="228779"/>
                </a:lnTo>
                <a:cubicBezTo>
                  <a:pt x="286772" y="237460"/>
                  <a:pt x="286772" y="251559"/>
                  <a:pt x="295454" y="260241"/>
                </a:cubicBezTo>
                <a:cubicBezTo>
                  <a:pt x="304135" y="268922"/>
                  <a:pt x="318234" y="268922"/>
                  <a:pt x="326916" y="260241"/>
                </a:cubicBezTo>
                <a:lnTo>
                  <a:pt x="393591" y="193566"/>
                </a:lnTo>
                <a:cubicBezTo>
                  <a:pt x="402273" y="184884"/>
                  <a:pt x="402273" y="170785"/>
                  <a:pt x="393591" y="162104"/>
                </a:cubicBezTo>
                <a:lnTo>
                  <a:pt x="326916" y="95429"/>
                </a:lnTo>
                <a:cubicBezTo>
                  <a:pt x="318234" y="86747"/>
                  <a:pt x="304135" y="86747"/>
                  <a:pt x="295454" y="95429"/>
                </a:cubicBezTo>
                <a:close/>
                <a:moveTo>
                  <a:pt x="104666" y="95359"/>
                </a:moveTo>
                <a:cubicBezTo>
                  <a:pt x="95984" y="86678"/>
                  <a:pt x="81885" y="86678"/>
                  <a:pt x="73204" y="95359"/>
                </a:cubicBezTo>
                <a:lnTo>
                  <a:pt x="6529" y="162034"/>
                </a:lnTo>
                <a:cubicBezTo>
                  <a:pt x="-2153" y="170716"/>
                  <a:pt x="-2153" y="184815"/>
                  <a:pt x="6529" y="193496"/>
                </a:cubicBezTo>
                <a:lnTo>
                  <a:pt x="73204" y="260171"/>
                </a:lnTo>
                <a:cubicBezTo>
                  <a:pt x="81885" y="268853"/>
                  <a:pt x="95984" y="268853"/>
                  <a:pt x="104666" y="260171"/>
                </a:cubicBezTo>
                <a:cubicBezTo>
                  <a:pt x="113348" y="251490"/>
                  <a:pt x="113348" y="237391"/>
                  <a:pt x="104666" y="228709"/>
                </a:cubicBezTo>
                <a:lnTo>
                  <a:pt x="53687" y="177800"/>
                </a:lnTo>
                <a:lnTo>
                  <a:pt x="104596" y="126821"/>
                </a:lnTo>
                <a:cubicBezTo>
                  <a:pt x="113278" y="118140"/>
                  <a:pt x="113278" y="104041"/>
                  <a:pt x="104596" y="95359"/>
                </a:cubicBezTo>
                <a:close/>
              </a:path>
            </a:pathLst>
          </a:custGeom>
          <a:solidFill>
            <a:srgbClr val="D4A843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0" y="3797300"/>
            <a:ext cx="2336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CODE GENERATION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58000" y="4178300"/>
            <a:ext cx="23368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8B9D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Agents formulate a new mathematical hypothesis and synthesize custom executable Python code.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398000" y="4064000"/>
            <a:ext cx="203200" cy="0"/>
          </a:xfrm>
          <a:prstGeom prst="straightConnector1">
            <a:avLst/>
          </a:prstGeom>
          <a:noFill/>
          <a:ln w="25400">
            <a:solidFill>
              <a:srgbClr val="D4A843"/>
            </a:solidFill>
            <a:prstDash val="solid"/>
            <a:headEnd type="none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9601200" y="2476500"/>
            <a:ext cx="2743200" cy="3302000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29" name="Shape 27"/>
          <p:cNvSpPr/>
          <p:nvPr/>
        </p:nvSpPr>
        <p:spPr>
          <a:xfrm>
            <a:off x="9804400" y="2679700"/>
            <a:ext cx="457200" cy="4572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0" name="Text 28"/>
          <p:cNvSpPr/>
          <p:nvPr/>
        </p:nvSpPr>
        <p:spPr>
          <a:xfrm>
            <a:off x="9804400" y="26797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0A0E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804400" y="33147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0995" y="0"/>
                  <a:pt x="184190" y="695"/>
                  <a:pt x="187107" y="2014"/>
                </a:cubicBezTo>
                <a:lnTo>
                  <a:pt x="317956" y="57507"/>
                </a:lnTo>
                <a:cubicBezTo>
                  <a:pt x="333236" y="63966"/>
                  <a:pt x="344626" y="79038"/>
                  <a:pt x="344557" y="97234"/>
                </a:cubicBezTo>
                <a:cubicBezTo>
                  <a:pt x="344210" y="166132"/>
                  <a:pt x="315873" y="292189"/>
                  <a:pt x="196205" y="349488"/>
                </a:cubicBezTo>
                <a:cubicBezTo>
                  <a:pt x="184606" y="355044"/>
                  <a:pt x="171133" y="355044"/>
                  <a:pt x="159534" y="349488"/>
                </a:cubicBezTo>
                <a:cubicBezTo>
                  <a:pt x="39797" y="292189"/>
                  <a:pt x="11529" y="166132"/>
                  <a:pt x="11182" y="97234"/>
                </a:cubicBezTo>
                <a:cubicBezTo>
                  <a:pt x="11112" y="79038"/>
                  <a:pt x="22503" y="63966"/>
                  <a:pt x="37782" y="57507"/>
                </a:cubicBezTo>
                <a:lnTo>
                  <a:pt x="168563" y="2014"/>
                </a:lnTo>
                <a:cubicBezTo>
                  <a:pt x="171480" y="695"/>
                  <a:pt x="174605" y="0"/>
                  <a:pt x="177800" y="0"/>
                </a:cubicBezTo>
                <a:close/>
                <a:moveTo>
                  <a:pt x="177800" y="46395"/>
                </a:moveTo>
                <a:lnTo>
                  <a:pt x="177800" y="308997"/>
                </a:lnTo>
                <a:cubicBezTo>
                  <a:pt x="273645" y="262602"/>
                  <a:pt x="299412" y="159812"/>
                  <a:pt x="300038" y="98276"/>
                </a:cubicBezTo>
                <a:lnTo>
                  <a:pt x="177800" y="46464"/>
                </a:lnTo>
                <a:lnTo>
                  <a:pt x="177800" y="46464"/>
                </a:lnTo>
                <a:close/>
              </a:path>
            </a:pathLst>
          </a:custGeom>
          <a:solidFill>
            <a:srgbClr val="D4A843"/>
          </a:solidFill>
          <a:ln/>
        </p:spPr>
      </p:sp>
      <p:sp>
        <p:nvSpPr>
          <p:cNvPr id="32" name="Text 30"/>
          <p:cNvSpPr/>
          <p:nvPr/>
        </p:nvSpPr>
        <p:spPr>
          <a:xfrm>
            <a:off x="9804400" y="3797300"/>
            <a:ext cx="2336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AST SANDBOXING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804400" y="4178300"/>
            <a:ext cx="23368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8B9D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Code parsed into AST to strip unsafe operations. Walk-forward validation against live tick data.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2344400" y="4064000"/>
            <a:ext cx="203200" cy="0"/>
          </a:xfrm>
          <a:prstGeom prst="straightConnector1">
            <a:avLst/>
          </a:prstGeom>
          <a:noFill/>
          <a:ln w="25400">
            <a:solidFill>
              <a:srgbClr val="D4A843"/>
            </a:solidFill>
            <a:prstDash val="solid"/>
            <a:headEnd type="none"/>
            <a:tailEnd type="arrow"/>
          </a:ln>
        </p:spPr>
      </p:sp>
      <p:sp>
        <p:nvSpPr>
          <p:cNvPr id="35" name="Shape 33"/>
          <p:cNvSpPr/>
          <p:nvPr/>
        </p:nvSpPr>
        <p:spPr>
          <a:xfrm>
            <a:off x="12547600" y="2476500"/>
            <a:ext cx="2946400" cy="3302000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36" name="Shape 34"/>
          <p:cNvSpPr/>
          <p:nvPr/>
        </p:nvSpPr>
        <p:spPr>
          <a:xfrm>
            <a:off x="12750800" y="2679700"/>
            <a:ext cx="457200" cy="4572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7" name="Text 35"/>
          <p:cNvSpPr/>
          <p:nvPr/>
        </p:nvSpPr>
        <p:spPr>
          <a:xfrm>
            <a:off x="12750800" y="26797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0A0E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2750800" y="33147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88900" y="222250"/>
                </a:moveTo>
                <a:lnTo>
                  <a:pt x="17016" y="222250"/>
                </a:lnTo>
                <a:cubicBezTo>
                  <a:pt x="-278" y="222250"/>
                  <a:pt x="-10904" y="203428"/>
                  <a:pt x="-2014" y="188565"/>
                </a:cubicBezTo>
                <a:lnTo>
                  <a:pt x="34727" y="127308"/>
                </a:lnTo>
                <a:cubicBezTo>
                  <a:pt x="40769" y="117237"/>
                  <a:pt x="51604" y="111125"/>
                  <a:pt x="63341" y="111125"/>
                </a:cubicBezTo>
                <a:lnTo>
                  <a:pt x="129322" y="111125"/>
                </a:lnTo>
                <a:cubicBezTo>
                  <a:pt x="182176" y="21600"/>
                  <a:pt x="261005" y="17085"/>
                  <a:pt x="313720" y="24795"/>
                </a:cubicBezTo>
                <a:cubicBezTo>
                  <a:pt x="322610" y="26114"/>
                  <a:pt x="329555" y="33060"/>
                  <a:pt x="330805" y="41880"/>
                </a:cubicBezTo>
                <a:cubicBezTo>
                  <a:pt x="338515" y="94595"/>
                  <a:pt x="334000" y="173424"/>
                  <a:pt x="244475" y="226278"/>
                </a:cubicBezTo>
                <a:lnTo>
                  <a:pt x="244475" y="292259"/>
                </a:lnTo>
                <a:cubicBezTo>
                  <a:pt x="244475" y="303996"/>
                  <a:pt x="238363" y="314831"/>
                  <a:pt x="228292" y="320873"/>
                </a:cubicBezTo>
                <a:lnTo>
                  <a:pt x="167035" y="357614"/>
                </a:lnTo>
                <a:cubicBezTo>
                  <a:pt x="152241" y="366504"/>
                  <a:pt x="133350" y="355808"/>
                  <a:pt x="133350" y="338584"/>
                </a:cubicBezTo>
                <a:lnTo>
                  <a:pt x="133350" y="266700"/>
                </a:lnTo>
                <a:cubicBezTo>
                  <a:pt x="133350" y="242183"/>
                  <a:pt x="113417" y="222250"/>
                  <a:pt x="88900" y="222250"/>
                </a:cubicBezTo>
                <a:lnTo>
                  <a:pt x="88831" y="222250"/>
                </a:lnTo>
                <a:close/>
                <a:moveTo>
                  <a:pt x="277813" y="111125"/>
                </a:moveTo>
                <a:cubicBezTo>
                  <a:pt x="277813" y="92726"/>
                  <a:pt x="262874" y="77788"/>
                  <a:pt x="244475" y="77788"/>
                </a:cubicBezTo>
                <a:cubicBezTo>
                  <a:pt x="226076" y="77788"/>
                  <a:pt x="211138" y="92726"/>
                  <a:pt x="211138" y="111125"/>
                </a:cubicBezTo>
                <a:cubicBezTo>
                  <a:pt x="211138" y="129524"/>
                  <a:pt x="226076" y="144463"/>
                  <a:pt x="244475" y="144463"/>
                </a:cubicBezTo>
                <a:cubicBezTo>
                  <a:pt x="262874" y="144463"/>
                  <a:pt x="277813" y="129524"/>
                  <a:pt x="277813" y="111125"/>
                </a:cubicBezTo>
                <a:close/>
              </a:path>
            </a:pathLst>
          </a:custGeom>
          <a:solidFill>
            <a:srgbClr val="D4A843"/>
          </a:solidFill>
          <a:ln/>
        </p:spPr>
      </p:sp>
      <p:sp>
        <p:nvSpPr>
          <p:cNvPr id="39" name="Text 37"/>
          <p:cNvSpPr/>
          <p:nvPr/>
        </p:nvSpPr>
        <p:spPr>
          <a:xfrm>
            <a:off x="12750800" y="37973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AUTO-PROMOTION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2750800" y="4178300"/>
            <a:ext cx="2540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8B9D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 RMSE improves ≥15%, the model is hot-swapped into production with zero downtime.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62000" y="6223000"/>
            <a:ext cx="14732000" cy="1016000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42" name="Shape 40"/>
          <p:cNvSpPr/>
          <p:nvPr/>
        </p:nvSpPr>
        <p:spPr>
          <a:xfrm>
            <a:off x="762000" y="6223000"/>
            <a:ext cx="50800" cy="10160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3" name="Text 41"/>
          <p:cNvSpPr/>
          <p:nvPr/>
        </p:nvSpPr>
        <p:spPr>
          <a:xfrm>
            <a:off x="1066800" y="63246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D4A8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RUFLO MULTI-AGENT SYSTEM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066800" y="6629400"/>
            <a:ext cx="14097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D4A84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Market Analyst 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D4A84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Volatility Researcher 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D4A84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Model Builder 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D4A84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Risk Guard 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D4A84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Portfolio Governor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0" y="9093200"/>
            <a:ext cx="16256000" cy="50800"/>
          </a:xfrm>
          <a:prstGeom prst="rect">
            <a:avLst/>
          </a:prstGeom>
          <a:solidFill>
            <a:srgbClr val="D4A843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8B9D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VITTAM 2.0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3970000" y="3048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spc="200" kern="0" dirty="0">
                <a:solidFill>
                  <a:srgbClr val="8B9D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 / 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8890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200" kern="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 &amp; TARGET MARKET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524000"/>
            <a:ext cx="762000" cy="381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8415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200" kern="0" dirty="0">
                <a:solidFill>
                  <a:srgbClr val="D4A8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 STACK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2311400"/>
            <a:ext cx="7175500" cy="1397000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2311400"/>
            <a:ext cx="50800" cy="13970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9" name="Shape 7"/>
          <p:cNvSpPr/>
          <p:nvPr/>
        </p:nvSpPr>
        <p:spPr>
          <a:xfrm>
            <a:off x="1035050" y="24638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38100" y="19050"/>
                </a:moveTo>
                <a:cubicBezTo>
                  <a:pt x="17085" y="19050"/>
                  <a:pt x="0" y="36135"/>
                  <a:pt x="0" y="57150"/>
                </a:cubicBezTo>
                <a:lnTo>
                  <a:pt x="0" y="95250"/>
                </a:lnTo>
                <a:cubicBezTo>
                  <a:pt x="0" y="116265"/>
                  <a:pt x="17085" y="133350"/>
                  <a:pt x="38100" y="133350"/>
                </a:cubicBezTo>
                <a:lnTo>
                  <a:pt x="228600" y="133350"/>
                </a:lnTo>
                <a:cubicBezTo>
                  <a:pt x="249615" y="133350"/>
                  <a:pt x="266700" y="116265"/>
                  <a:pt x="266700" y="95250"/>
                </a:cubicBezTo>
                <a:lnTo>
                  <a:pt x="266700" y="57150"/>
                </a:lnTo>
                <a:cubicBezTo>
                  <a:pt x="266700" y="36135"/>
                  <a:pt x="249615" y="19050"/>
                  <a:pt x="228600" y="19050"/>
                </a:cubicBezTo>
                <a:lnTo>
                  <a:pt x="38100" y="19050"/>
                </a:lnTo>
                <a:close/>
                <a:moveTo>
                  <a:pt x="166688" y="61912"/>
                </a:moveTo>
                <a:cubicBezTo>
                  <a:pt x="174573" y="61912"/>
                  <a:pt x="180975" y="68315"/>
                  <a:pt x="180975" y="76200"/>
                </a:cubicBezTo>
                <a:cubicBezTo>
                  <a:pt x="180975" y="84085"/>
                  <a:pt x="174573" y="90488"/>
                  <a:pt x="166688" y="90488"/>
                </a:cubicBezTo>
                <a:cubicBezTo>
                  <a:pt x="158802" y="90488"/>
                  <a:pt x="152400" y="84085"/>
                  <a:pt x="152400" y="76200"/>
                </a:cubicBezTo>
                <a:cubicBezTo>
                  <a:pt x="152400" y="68315"/>
                  <a:pt x="158802" y="61912"/>
                  <a:pt x="166688" y="61912"/>
                </a:cubicBezTo>
                <a:close/>
                <a:moveTo>
                  <a:pt x="200025" y="76200"/>
                </a:moveTo>
                <a:cubicBezTo>
                  <a:pt x="200025" y="68315"/>
                  <a:pt x="206427" y="61912"/>
                  <a:pt x="214313" y="61912"/>
                </a:cubicBezTo>
                <a:cubicBezTo>
                  <a:pt x="222198" y="61912"/>
                  <a:pt x="228600" y="68315"/>
                  <a:pt x="228600" y="76200"/>
                </a:cubicBezTo>
                <a:cubicBezTo>
                  <a:pt x="228600" y="84085"/>
                  <a:pt x="222198" y="90488"/>
                  <a:pt x="214313" y="90488"/>
                </a:cubicBezTo>
                <a:cubicBezTo>
                  <a:pt x="206427" y="90488"/>
                  <a:pt x="200025" y="84085"/>
                  <a:pt x="200025" y="76200"/>
                </a:cubicBezTo>
                <a:close/>
                <a:moveTo>
                  <a:pt x="38100" y="171450"/>
                </a:moveTo>
                <a:cubicBezTo>
                  <a:pt x="17085" y="171450"/>
                  <a:pt x="0" y="188535"/>
                  <a:pt x="0" y="209550"/>
                </a:cubicBezTo>
                <a:lnTo>
                  <a:pt x="0" y="247650"/>
                </a:lnTo>
                <a:cubicBezTo>
                  <a:pt x="0" y="268665"/>
                  <a:pt x="17085" y="285750"/>
                  <a:pt x="38100" y="285750"/>
                </a:cubicBezTo>
                <a:lnTo>
                  <a:pt x="228600" y="285750"/>
                </a:lnTo>
                <a:cubicBezTo>
                  <a:pt x="249615" y="285750"/>
                  <a:pt x="266700" y="268665"/>
                  <a:pt x="266700" y="247650"/>
                </a:cubicBezTo>
                <a:lnTo>
                  <a:pt x="266700" y="209550"/>
                </a:lnTo>
                <a:cubicBezTo>
                  <a:pt x="266700" y="188535"/>
                  <a:pt x="249615" y="171450"/>
                  <a:pt x="228600" y="171450"/>
                </a:cubicBezTo>
                <a:lnTo>
                  <a:pt x="38100" y="171450"/>
                </a:lnTo>
                <a:close/>
                <a:moveTo>
                  <a:pt x="166688" y="214313"/>
                </a:moveTo>
                <a:cubicBezTo>
                  <a:pt x="174573" y="214313"/>
                  <a:pt x="180975" y="220715"/>
                  <a:pt x="180975" y="228600"/>
                </a:cubicBezTo>
                <a:cubicBezTo>
                  <a:pt x="180975" y="236485"/>
                  <a:pt x="174573" y="242888"/>
                  <a:pt x="166688" y="242888"/>
                </a:cubicBezTo>
                <a:cubicBezTo>
                  <a:pt x="158802" y="242888"/>
                  <a:pt x="152400" y="236485"/>
                  <a:pt x="152400" y="228600"/>
                </a:cubicBezTo>
                <a:cubicBezTo>
                  <a:pt x="152400" y="220715"/>
                  <a:pt x="158802" y="214313"/>
                  <a:pt x="166688" y="214313"/>
                </a:cubicBezTo>
                <a:close/>
                <a:moveTo>
                  <a:pt x="200025" y="228600"/>
                </a:moveTo>
                <a:cubicBezTo>
                  <a:pt x="200025" y="220715"/>
                  <a:pt x="206427" y="214313"/>
                  <a:pt x="214313" y="214313"/>
                </a:cubicBezTo>
                <a:cubicBezTo>
                  <a:pt x="222198" y="214313"/>
                  <a:pt x="228600" y="220715"/>
                  <a:pt x="228600" y="228600"/>
                </a:cubicBezTo>
                <a:cubicBezTo>
                  <a:pt x="228600" y="236485"/>
                  <a:pt x="222198" y="242888"/>
                  <a:pt x="214313" y="242888"/>
                </a:cubicBezTo>
                <a:cubicBezTo>
                  <a:pt x="206427" y="242888"/>
                  <a:pt x="200025" y="236485"/>
                  <a:pt x="200025" y="228600"/>
                </a:cubicBezTo>
                <a:close/>
              </a:path>
            </a:pathLst>
          </a:custGeom>
          <a:solidFill>
            <a:srgbClr val="D4A843"/>
          </a:solidFill>
          <a:ln/>
        </p:spPr>
      </p:sp>
      <p:sp>
        <p:nvSpPr>
          <p:cNvPr id="10" name="Text 8"/>
          <p:cNvSpPr/>
          <p:nvPr/>
        </p:nvSpPr>
        <p:spPr>
          <a:xfrm>
            <a:off x="1447800" y="24384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BACKEND CORE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16000" y="2844800"/>
            <a:ext cx="66675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8B9D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Python 3.12, FastAPI, WebSockets. Data processing with NumPy. PyTest for rigorous TDD and model sandboxing.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3860800"/>
            <a:ext cx="7175500" cy="1397000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13" name="Shape 11"/>
          <p:cNvSpPr/>
          <p:nvPr/>
        </p:nvSpPr>
        <p:spPr>
          <a:xfrm>
            <a:off x="762000" y="3860800"/>
            <a:ext cx="50800" cy="13970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4" name="Shape 12"/>
          <p:cNvSpPr/>
          <p:nvPr/>
        </p:nvSpPr>
        <p:spPr>
          <a:xfrm>
            <a:off x="1016000" y="4013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1438" y="33338"/>
                </a:moveTo>
                <a:cubicBezTo>
                  <a:pt x="71438" y="14942"/>
                  <a:pt x="86380" y="0"/>
                  <a:pt x="104775" y="0"/>
                </a:cubicBezTo>
                <a:lnTo>
                  <a:pt x="119062" y="0"/>
                </a:lnTo>
                <a:cubicBezTo>
                  <a:pt x="129600" y="0"/>
                  <a:pt x="138113" y="8513"/>
                  <a:pt x="138113" y="19050"/>
                </a:cubicBezTo>
                <a:lnTo>
                  <a:pt x="138113" y="285750"/>
                </a:lnTo>
                <a:cubicBezTo>
                  <a:pt x="138113" y="296287"/>
                  <a:pt x="129600" y="304800"/>
                  <a:pt x="119062" y="304800"/>
                </a:cubicBezTo>
                <a:lnTo>
                  <a:pt x="100013" y="304800"/>
                </a:lnTo>
                <a:cubicBezTo>
                  <a:pt x="82272" y="304800"/>
                  <a:pt x="67330" y="292656"/>
                  <a:pt x="63103" y="276225"/>
                </a:cubicBezTo>
                <a:cubicBezTo>
                  <a:pt x="62686" y="276225"/>
                  <a:pt x="62329" y="276225"/>
                  <a:pt x="61912" y="276225"/>
                </a:cubicBezTo>
                <a:cubicBezTo>
                  <a:pt x="35600" y="276225"/>
                  <a:pt x="14288" y="254913"/>
                  <a:pt x="14288" y="228600"/>
                </a:cubicBezTo>
                <a:cubicBezTo>
                  <a:pt x="14288" y="217884"/>
                  <a:pt x="17859" y="208002"/>
                  <a:pt x="23813" y="200025"/>
                </a:cubicBezTo>
                <a:cubicBezTo>
                  <a:pt x="12263" y="191333"/>
                  <a:pt x="4763" y="177522"/>
                  <a:pt x="4763" y="161925"/>
                </a:cubicBezTo>
                <a:cubicBezTo>
                  <a:pt x="4763" y="143530"/>
                  <a:pt x="15240" y="127516"/>
                  <a:pt x="30480" y="119598"/>
                </a:cubicBezTo>
                <a:cubicBezTo>
                  <a:pt x="26253" y="112455"/>
                  <a:pt x="23813" y="104120"/>
                  <a:pt x="23813" y="95250"/>
                </a:cubicBezTo>
                <a:cubicBezTo>
                  <a:pt x="23813" y="68937"/>
                  <a:pt x="45125" y="47625"/>
                  <a:pt x="71438" y="47625"/>
                </a:cubicBezTo>
                <a:lnTo>
                  <a:pt x="71438" y="33338"/>
                </a:lnTo>
                <a:close/>
                <a:moveTo>
                  <a:pt x="233363" y="33338"/>
                </a:moveTo>
                <a:lnTo>
                  <a:pt x="233363" y="47625"/>
                </a:lnTo>
                <a:cubicBezTo>
                  <a:pt x="259675" y="47625"/>
                  <a:pt x="280987" y="68937"/>
                  <a:pt x="280987" y="95250"/>
                </a:cubicBezTo>
                <a:cubicBezTo>
                  <a:pt x="280987" y="104180"/>
                  <a:pt x="278547" y="112514"/>
                  <a:pt x="274320" y="119598"/>
                </a:cubicBezTo>
                <a:cubicBezTo>
                  <a:pt x="289620" y="127516"/>
                  <a:pt x="300038" y="143470"/>
                  <a:pt x="300038" y="161925"/>
                </a:cubicBezTo>
                <a:cubicBezTo>
                  <a:pt x="300038" y="177522"/>
                  <a:pt x="292537" y="191333"/>
                  <a:pt x="280987" y="200025"/>
                </a:cubicBezTo>
                <a:cubicBezTo>
                  <a:pt x="286941" y="208002"/>
                  <a:pt x="290513" y="217884"/>
                  <a:pt x="290513" y="228600"/>
                </a:cubicBezTo>
                <a:cubicBezTo>
                  <a:pt x="290513" y="254913"/>
                  <a:pt x="269200" y="276225"/>
                  <a:pt x="242888" y="276225"/>
                </a:cubicBezTo>
                <a:cubicBezTo>
                  <a:pt x="242471" y="276225"/>
                  <a:pt x="242114" y="276225"/>
                  <a:pt x="241697" y="276225"/>
                </a:cubicBezTo>
                <a:cubicBezTo>
                  <a:pt x="237470" y="292656"/>
                  <a:pt x="222528" y="304800"/>
                  <a:pt x="204787" y="304800"/>
                </a:cubicBezTo>
                <a:lnTo>
                  <a:pt x="185738" y="304800"/>
                </a:lnTo>
                <a:cubicBezTo>
                  <a:pt x="175200" y="304800"/>
                  <a:pt x="166688" y="296287"/>
                  <a:pt x="166688" y="285750"/>
                </a:cubicBezTo>
                <a:lnTo>
                  <a:pt x="166688" y="19050"/>
                </a:lnTo>
                <a:cubicBezTo>
                  <a:pt x="166688" y="8513"/>
                  <a:pt x="175200" y="0"/>
                  <a:pt x="185738" y="0"/>
                </a:cubicBezTo>
                <a:lnTo>
                  <a:pt x="200025" y="0"/>
                </a:lnTo>
                <a:cubicBezTo>
                  <a:pt x="218420" y="0"/>
                  <a:pt x="233363" y="14942"/>
                  <a:pt x="233363" y="33338"/>
                </a:cubicBezTo>
                <a:close/>
              </a:path>
            </a:pathLst>
          </a:custGeom>
          <a:solidFill>
            <a:srgbClr val="D4A843"/>
          </a:solidFill>
          <a:ln/>
        </p:spPr>
      </p:sp>
      <p:sp>
        <p:nvSpPr>
          <p:cNvPr id="15" name="Text 13"/>
          <p:cNvSpPr/>
          <p:nvPr/>
        </p:nvSpPr>
        <p:spPr>
          <a:xfrm>
            <a:off x="1447800" y="39878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AGENT ORCHESTRATOR "RUFLO"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16000" y="4394200"/>
            <a:ext cx="66675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8B9D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 memory-sharing agents. OpenAI Codex / gpt-4o for mathematical hypothesis and code synthesis.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5410200"/>
            <a:ext cx="7175500" cy="1397000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18" name="Shape 16"/>
          <p:cNvSpPr/>
          <p:nvPr/>
        </p:nvSpPr>
        <p:spPr>
          <a:xfrm>
            <a:off x="762000" y="5410200"/>
            <a:ext cx="50800" cy="13970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9" name="Shape 17"/>
          <p:cNvSpPr/>
          <p:nvPr/>
        </p:nvSpPr>
        <p:spPr>
          <a:xfrm>
            <a:off x="1016000" y="5562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66700" y="57150"/>
                </a:moveTo>
                <a:lnTo>
                  <a:pt x="266700" y="209550"/>
                </a:lnTo>
                <a:lnTo>
                  <a:pt x="38100" y="209550"/>
                </a:lnTo>
                <a:lnTo>
                  <a:pt x="38100" y="57150"/>
                </a:lnTo>
                <a:lnTo>
                  <a:pt x="266700" y="57150"/>
                </a:lnTo>
                <a:close/>
                <a:moveTo>
                  <a:pt x="38100" y="19050"/>
                </a:moveTo>
                <a:cubicBezTo>
                  <a:pt x="17085" y="19050"/>
                  <a:pt x="0" y="36135"/>
                  <a:pt x="0" y="57150"/>
                </a:cubicBezTo>
                <a:lnTo>
                  <a:pt x="0" y="209550"/>
                </a:lnTo>
                <a:cubicBezTo>
                  <a:pt x="0" y="230565"/>
                  <a:pt x="17085" y="247650"/>
                  <a:pt x="38100" y="247650"/>
                </a:cubicBezTo>
                <a:lnTo>
                  <a:pt x="123825" y="247650"/>
                </a:lnTo>
                <a:lnTo>
                  <a:pt x="114300" y="276225"/>
                </a:lnTo>
                <a:lnTo>
                  <a:pt x="71438" y="276225"/>
                </a:lnTo>
                <a:cubicBezTo>
                  <a:pt x="63520" y="276225"/>
                  <a:pt x="57150" y="282595"/>
                  <a:pt x="57150" y="290513"/>
                </a:cubicBezTo>
                <a:cubicBezTo>
                  <a:pt x="57150" y="298430"/>
                  <a:pt x="63520" y="304800"/>
                  <a:pt x="71438" y="304800"/>
                </a:cubicBezTo>
                <a:lnTo>
                  <a:pt x="233363" y="304800"/>
                </a:lnTo>
                <a:cubicBezTo>
                  <a:pt x="241280" y="304800"/>
                  <a:pt x="247650" y="298430"/>
                  <a:pt x="247650" y="290513"/>
                </a:cubicBezTo>
                <a:cubicBezTo>
                  <a:pt x="247650" y="282595"/>
                  <a:pt x="241280" y="276225"/>
                  <a:pt x="233363" y="276225"/>
                </a:cubicBezTo>
                <a:lnTo>
                  <a:pt x="190500" y="276225"/>
                </a:lnTo>
                <a:lnTo>
                  <a:pt x="180975" y="247650"/>
                </a:lnTo>
                <a:lnTo>
                  <a:pt x="266700" y="247650"/>
                </a:lnTo>
                <a:cubicBezTo>
                  <a:pt x="287715" y="247650"/>
                  <a:pt x="304800" y="230565"/>
                  <a:pt x="304800" y="209550"/>
                </a:cubicBezTo>
                <a:lnTo>
                  <a:pt x="304800" y="57150"/>
                </a:lnTo>
                <a:cubicBezTo>
                  <a:pt x="304800" y="36135"/>
                  <a:pt x="287715" y="19050"/>
                  <a:pt x="266700" y="19050"/>
                </a:cubicBezTo>
                <a:lnTo>
                  <a:pt x="38100" y="19050"/>
                </a:lnTo>
                <a:close/>
              </a:path>
            </a:pathLst>
          </a:custGeom>
          <a:solidFill>
            <a:srgbClr val="D4A843"/>
          </a:solidFill>
          <a:ln/>
        </p:spPr>
      </p:sp>
      <p:sp>
        <p:nvSpPr>
          <p:cNvPr id="20" name="Text 18"/>
          <p:cNvSpPr/>
          <p:nvPr/>
        </p:nvSpPr>
        <p:spPr>
          <a:xfrm>
            <a:off x="1447800" y="55372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FRONTEND DASHBOARD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16000" y="5943600"/>
            <a:ext cx="66675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8B9D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React 19, Vite, Tailwind CSS v4, Recharts. Real-time double-axis charts, side-by-side IDE view.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6959600"/>
            <a:ext cx="7175500" cy="1397000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23" name="Shape 21"/>
          <p:cNvSpPr/>
          <p:nvPr/>
        </p:nvSpPr>
        <p:spPr>
          <a:xfrm>
            <a:off x="762000" y="6959600"/>
            <a:ext cx="50800" cy="13970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4" name="Shape 22"/>
          <p:cNvSpPr/>
          <p:nvPr/>
        </p:nvSpPr>
        <p:spPr>
          <a:xfrm>
            <a:off x="1054100" y="71120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76200" y="57150"/>
                </a:moveTo>
                <a:lnTo>
                  <a:pt x="76200" y="95250"/>
                </a:lnTo>
                <a:lnTo>
                  <a:pt x="152400" y="95250"/>
                </a:lnTo>
                <a:lnTo>
                  <a:pt x="152400" y="57150"/>
                </a:lnTo>
                <a:cubicBezTo>
                  <a:pt x="152400" y="36135"/>
                  <a:pt x="135315" y="19050"/>
                  <a:pt x="114300" y="19050"/>
                </a:cubicBezTo>
                <a:cubicBezTo>
                  <a:pt x="93285" y="19050"/>
                  <a:pt x="76200" y="36135"/>
                  <a:pt x="76200" y="57150"/>
                </a:cubicBezTo>
                <a:close/>
                <a:moveTo>
                  <a:pt x="38100" y="95250"/>
                </a:moveTo>
                <a:lnTo>
                  <a:pt x="38100" y="57150"/>
                </a:lnTo>
                <a:cubicBezTo>
                  <a:pt x="38100" y="15061"/>
                  <a:pt x="72211" y="-19050"/>
                  <a:pt x="114300" y="-19050"/>
                </a:cubicBezTo>
                <a:cubicBezTo>
                  <a:pt x="156389" y="-19050"/>
                  <a:pt x="190500" y="15061"/>
                  <a:pt x="190500" y="57150"/>
                </a:cubicBezTo>
                <a:lnTo>
                  <a:pt x="190500" y="95250"/>
                </a:lnTo>
                <a:cubicBezTo>
                  <a:pt x="211515" y="95250"/>
                  <a:pt x="228600" y="112335"/>
                  <a:pt x="228600" y="133350"/>
                </a:cubicBezTo>
                <a:lnTo>
                  <a:pt x="228600" y="266700"/>
                </a:lnTo>
                <a:cubicBezTo>
                  <a:pt x="228600" y="287715"/>
                  <a:pt x="211515" y="304800"/>
                  <a:pt x="190500" y="304800"/>
                </a:cubicBezTo>
                <a:lnTo>
                  <a:pt x="38100" y="304800"/>
                </a:lnTo>
                <a:cubicBezTo>
                  <a:pt x="17085" y="304800"/>
                  <a:pt x="0" y="287715"/>
                  <a:pt x="0" y="266700"/>
                </a:cubicBezTo>
                <a:lnTo>
                  <a:pt x="0" y="133350"/>
                </a:lnTo>
                <a:cubicBezTo>
                  <a:pt x="0" y="112335"/>
                  <a:pt x="17085" y="95250"/>
                  <a:pt x="38100" y="95250"/>
                </a:cubicBezTo>
                <a:close/>
              </a:path>
            </a:pathLst>
          </a:custGeom>
          <a:solidFill>
            <a:srgbClr val="D4A843"/>
          </a:solidFill>
          <a:ln/>
        </p:spPr>
      </p:sp>
      <p:sp>
        <p:nvSpPr>
          <p:cNvPr id="25" name="Text 23"/>
          <p:cNvSpPr/>
          <p:nvPr/>
        </p:nvSpPr>
        <p:spPr>
          <a:xfrm>
            <a:off x="1447800" y="70866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AST SAFETY SANDBOX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16000" y="7493000"/>
            <a:ext cx="66675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8B9D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Code parsed into Abstract Syntax Trees to strip unsafe operations. Safe execution of AI-generated code.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318500" y="18415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200" kern="0" dirty="0">
                <a:solidFill>
                  <a:srgbClr val="D4A8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TARGET AUDIENCE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318500" y="2311400"/>
            <a:ext cx="7175500" cy="1905000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29" name="Shape 27"/>
          <p:cNvSpPr/>
          <p:nvPr/>
        </p:nvSpPr>
        <p:spPr>
          <a:xfrm>
            <a:off x="8318500" y="2311400"/>
            <a:ext cx="50800" cy="19050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0" name="Shape 28"/>
          <p:cNvSpPr/>
          <p:nvPr/>
        </p:nvSpPr>
        <p:spPr>
          <a:xfrm>
            <a:off x="8572500" y="2514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44450" y="44450"/>
                </a:moveTo>
                <a:cubicBezTo>
                  <a:pt x="44450" y="32157"/>
                  <a:pt x="34518" y="22225"/>
                  <a:pt x="22225" y="22225"/>
                </a:cubicBezTo>
                <a:cubicBezTo>
                  <a:pt x="9932" y="22225"/>
                  <a:pt x="0" y="32157"/>
                  <a:pt x="0" y="44450"/>
                </a:cubicBezTo>
                <a:lnTo>
                  <a:pt x="0" y="277813"/>
                </a:lnTo>
                <a:cubicBezTo>
                  <a:pt x="0" y="308511"/>
                  <a:pt x="24864" y="333375"/>
                  <a:pt x="55563" y="333375"/>
                </a:cubicBezTo>
                <a:lnTo>
                  <a:pt x="333375" y="333375"/>
                </a:lnTo>
                <a:cubicBezTo>
                  <a:pt x="345668" y="333375"/>
                  <a:pt x="355600" y="323443"/>
                  <a:pt x="355600" y="311150"/>
                </a:cubicBezTo>
                <a:cubicBezTo>
                  <a:pt x="355600" y="298857"/>
                  <a:pt x="345668" y="288925"/>
                  <a:pt x="333375" y="288925"/>
                </a:cubicBezTo>
                <a:lnTo>
                  <a:pt x="55563" y="288925"/>
                </a:lnTo>
                <a:cubicBezTo>
                  <a:pt x="49451" y="288925"/>
                  <a:pt x="44450" y="283924"/>
                  <a:pt x="44450" y="277813"/>
                </a:cubicBezTo>
                <a:lnTo>
                  <a:pt x="44450" y="44450"/>
                </a:lnTo>
                <a:close/>
                <a:moveTo>
                  <a:pt x="326846" y="104596"/>
                </a:moveTo>
                <a:cubicBezTo>
                  <a:pt x="335528" y="95915"/>
                  <a:pt x="335528" y="81816"/>
                  <a:pt x="326846" y="73134"/>
                </a:cubicBezTo>
                <a:cubicBezTo>
                  <a:pt x="318165" y="64453"/>
                  <a:pt x="304066" y="64453"/>
                  <a:pt x="295384" y="73134"/>
                </a:cubicBezTo>
                <a:lnTo>
                  <a:pt x="222250" y="146338"/>
                </a:lnTo>
                <a:lnTo>
                  <a:pt x="182384" y="106541"/>
                </a:lnTo>
                <a:cubicBezTo>
                  <a:pt x="173702" y="97859"/>
                  <a:pt x="159603" y="97859"/>
                  <a:pt x="150922" y="106541"/>
                </a:cubicBezTo>
                <a:lnTo>
                  <a:pt x="84247" y="173216"/>
                </a:lnTo>
                <a:cubicBezTo>
                  <a:pt x="75565" y="181898"/>
                  <a:pt x="75565" y="195997"/>
                  <a:pt x="84247" y="204678"/>
                </a:cubicBezTo>
                <a:cubicBezTo>
                  <a:pt x="92928" y="213360"/>
                  <a:pt x="107027" y="213360"/>
                  <a:pt x="115709" y="204678"/>
                </a:cubicBezTo>
                <a:lnTo>
                  <a:pt x="166688" y="153700"/>
                </a:lnTo>
                <a:lnTo>
                  <a:pt x="206554" y="193566"/>
                </a:lnTo>
                <a:cubicBezTo>
                  <a:pt x="215235" y="202248"/>
                  <a:pt x="229334" y="202248"/>
                  <a:pt x="238016" y="193566"/>
                </a:cubicBezTo>
                <a:lnTo>
                  <a:pt x="326916" y="104666"/>
                </a:lnTo>
                <a:close/>
              </a:path>
            </a:pathLst>
          </a:custGeom>
          <a:solidFill>
            <a:srgbClr val="D4A843"/>
          </a:solidFill>
          <a:ln/>
        </p:spPr>
      </p:sp>
      <p:sp>
        <p:nvSpPr>
          <p:cNvPr id="31" name="Text 29"/>
          <p:cNvSpPr/>
          <p:nvPr/>
        </p:nvSpPr>
        <p:spPr>
          <a:xfrm>
            <a:off x="9080500" y="2489200"/>
            <a:ext cx="61595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MARKET MAKERS &amp; LIQUIDITY PROVIDERS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572500" y="2946400"/>
            <a:ext cx="66675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8B9D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Professionals who need real-time volatility tracking to tighten bid-ask spreads safely without exposing themselves to toxic flow.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318500" y="4419600"/>
            <a:ext cx="7175500" cy="1905000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34" name="Shape 32"/>
          <p:cNvSpPr/>
          <p:nvPr/>
        </p:nvSpPr>
        <p:spPr>
          <a:xfrm>
            <a:off x="8318500" y="4419600"/>
            <a:ext cx="50800" cy="19050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5" name="Shape 33"/>
          <p:cNvSpPr/>
          <p:nvPr/>
        </p:nvSpPr>
        <p:spPr>
          <a:xfrm>
            <a:off x="8594725" y="46228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235307" y="-6876"/>
                </a:moveTo>
                <a:cubicBezTo>
                  <a:pt x="243572" y="-903"/>
                  <a:pt x="246628" y="9932"/>
                  <a:pt x="242878" y="19377"/>
                </a:cubicBezTo>
                <a:lnTo>
                  <a:pt x="188426" y="155575"/>
                </a:lnTo>
                <a:lnTo>
                  <a:pt x="288925" y="155575"/>
                </a:lnTo>
                <a:cubicBezTo>
                  <a:pt x="298301" y="155575"/>
                  <a:pt x="306636" y="161409"/>
                  <a:pt x="309830" y="170230"/>
                </a:cubicBezTo>
                <a:cubicBezTo>
                  <a:pt x="313025" y="179050"/>
                  <a:pt x="310317" y="188913"/>
                  <a:pt x="303163" y="194885"/>
                </a:cubicBezTo>
                <a:lnTo>
                  <a:pt x="103138" y="361573"/>
                </a:lnTo>
                <a:cubicBezTo>
                  <a:pt x="95290" y="368102"/>
                  <a:pt x="84108" y="368449"/>
                  <a:pt x="75843" y="362476"/>
                </a:cubicBezTo>
                <a:cubicBezTo>
                  <a:pt x="67578" y="356503"/>
                  <a:pt x="64522" y="345668"/>
                  <a:pt x="68272" y="336223"/>
                </a:cubicBezTo>
                <a:lnTo>
                  <a:pt x="122724" y="200025"/>
                </a:lnTo>
                <a:lnTo>
                  <a:pt x="22225" y="200025"/>
                </a:lnTo>
                <a:cubicBezTo>
                  <a:pt x="12849" y="200025"/>
                  <a:pt x="4514" y="194191"/>
                  <a:pt x="1320" y="185370"/>
                </a:cubicBezTo>
                <a:cubicBezTo>
                  <a:pt x="-1875" y="176550"/>
                  <a:pt x="833" y="166688"/>
                  <a:pt x="7987" y="160715"/>
                </a:cubicBezTo>
                <a:lnTo>
                  <a:pt x="208012" y="-5973"/>
                </a:lnTo>
                <a:cubicBezTo>
                  <a:pt x="215860" y="-12502"/>
                  <a:pt x="227042" y="-12849"/>
                  <a:pt x="235307" y="-6876"/>
                </a:cubicBezTo>
                <a:close/>
              </a:path>
            </a:pathLst>
          </a:custGeom>
          <a:solidFill>
            <a:srgbClr val="D4A843"/>
          </a:solidFill>
          <a:ln/>
        </p:spPr>
      </p:sp>
      <p:sp>
        <p:nvSpPr>
          <p:cNvPr id="36" name="Text 34"/>
          <p:cNvSpPr/>
          <p:nvPr/>
        </p:nvSpPr>
        <p:spPr>
          <a:xfrm>
            <a:off x="9080500" y="4597400"/>
            <a:ext cx="61595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SYSTEMATIC CRYPTO HEDGE FUNDS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572500" y="5054600"/>
            <a:ext cx="66675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8B9D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Funds requiring automated, real-time risk-management adjustments during flash crashes and market anomalies.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318500" y="6527800"/>
            <a:ext cx="7175500" cy="1905000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39" name="Shape 37"/>
          <p:cNvSpPr/>
          <p:nvPr/>
        </p:nvSpPr>
        <p:spPr>
          <a:xfrm>
            <a:off x="8318500" y="6527800"/>
            <a:ext cx="50800" cy="19050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0" name="Shape 38"/>
          <p:cNvSpPr/>
          <p:nvPr/>
        </p:nvSpPr>
        <p:spPr>
          <a:xfrm>
            <a:off x="8594725" y="67310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200025" y="0"/>
                </a:moveTo>
                <a:lnTo>
                  <a:pt x="88900" y="0"/>
                </a:lnTo>
                <a:cubicBezTo>
                  <a:pt x="76607" y="0"/>
                  <a:pt x="66675" y="9932"/>
                  <a:pt x="66675" y="22225"/>
                </a:cubicBezTo>
                <a:cubicBezTo>
                  <a:pt x="66675" y="34518"/>
                  <a:pt x="76607" y="44450"/>
                  <a:pt x="88900" y="44450"/>
                </a:cubicBezTo>
                <a:lnTo>
                  <a:pt x="88900" y="149671"/>
                </a:lnTo>
                <a:lnTo>
                  <a:pt x="5209" y="296079"/>
                </a:lnTo>
                <a:cubicBezTo>
                  <a:pt x="1806" y="302121"/>
                  <a:pt x="0" y="308858"/>
                  <a:pt x="0" y="315803"/>
                </a:cubicBezTo>
                <a:cubicBezTo>
                  <a:pt x="0" y="337820"/>
                  <a:pt x="17780" y="355600"/>
                  <a:pt x="39797" y="355600"/>
                </a:cubicBezTo>
                <a:lnTo>
                  <a:pt x="271353" y="355600"/>
                </a:lnTo>
                <a:cubicBezTo>
                  <a:pt x="293301" y="355600"/>
                  <a:pt x="311150" y="337820"/>
                  <a:pt x="311150" y="315803"/>
                </a:cubicBezTo>
                <a:cubicBezTo>
                  <a:pt x="311150" y="308858"/>
                  <a:pt x="309344" y="302052"/>
                  <a:pt x="305941" y="296079"/>
                </a:cubicBezTo>
                <a:lnTo>
                  <a:pt x="222250" y="149671"/>
                </a:lnTo>
                <a:lnTo>
                  <a:pt x="222250" y="44450"/>
                </a:lnTo>
                <a:cubicBezTo>
                  <a:pt x="234543" y="44450"/>
                  <a:pt x="244475" y="34518"/>
                  <a:pt x="244475" y="22225"/>
                </a:cubicBezTo>
                <a:cubicBezTo>
                  <a:pt x="244475" y="9932"/>
                  <a:pt x="234543" y="0"/>
                  <a:pt x="222250" y="0"/>
                </a:cubicBezTo>
                <a:lnTo>
                  <a:pt x="200025" y="0"/>
                </a:lnTo>
                <a:close/>
                <a:moveTo>
                  <a:pt x="133350" y="149671"/>
                </a:moveTo>
                <a:lnTo>
                  <a:pt x="133350" y="44450"/>
                </a:lnTo>
                <a:lnTo>
                  <a:pt x="177800" y="44450"/>
                </a:lnTo>
                <a:lnTo>
                  <a:pt x="177800" y="149671"/>
                </a:lnTo>
                <a:cubicBezTo>
                  <a:pt x="177800" y="157381"/>
                  <a:pt x="179814" y="165021"/>
                  <a:pt x="183634" y="171758"/>
                </a:cubicBezTo>
                <a:lnTo>
                  <a:pt x="212527" y="222250"/>
                </a:lnTo>
                <a:lnTo>
                  <a:pt x="98623" y="222250"/>
                </a:lnTo>
                <a:lnTo>
                  <a:pt x="127516" y="171758"/>
                </a:lnTo>
                <a:cubicBezTo>
                  <a:pt x="131336" y="165021"/>
                  <a:pt x="133350" y="157450"/>
                  <a:pt x="133350" y="149671"/>
                </a:cubicBezTo>
                <a:close/>
              </a:path>
            </a:pathLst>
          </a:custGeom>
          <a:solidFill>
            <a:srgbClr val="D4A843"/>
          </a:solidFill>
          <a:ln/>
        </p:spPr>
      </p:sp>
      <p:sp>
        <p:nvSpPr>
          <p:cNvPr id="41" name="Text 39"/>
          <p:cNvSpPr/>
          <p:nvPr/>
        </p:nvSpPr>
        <p:spPr>
          <a:xfrm>
            <a:off x="9080500" y="6705600"/>
            <a:ext cx="61595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QUANT DEVELOPERS &amp; RESEARCHERS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572500" y="7162800"/>
            <a:ext cx="66675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8B9DB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Teams automating the quantitative research pipeline, eliminating manual parameter refitting to focus on alpha generation.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0" y="9093200"/>
            <a:ext cx="16256000" cy="50800"/>
          </a:xfrm>
          <a:prstGeom prst="rect">
            <a:avLst/>
          </a:prstGeom>
          <a:solidFill>
            <a:srgbClr val="D4A843"/>
          </a:solidFill>
          <a:ln/>
        </p:spPr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VITTAM 2.0 — Pitch Deck</dc:title>
  <dc:subject>VITTAM 2.0 — Pitch Deck</dc:subject>
  <dc:creator>Kimi</dc:creator>
  <cp:lastModifiedBy>Kimi</cp:lastModifiedBy>
  <cp:revision>1</cp:revision>
  <dcterms:created xsi:type="dcterms:W3CDTF">2026-05-28T14:44:15Z</dcterms:created>
  <dcterms:modified xsi:type="dcterms:W3CDTF">2026-05-28T14:44:15Z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{"Label":"VITTAM 2.0 — Pitch Deck","ContentProducer":"001191110108MACG2KBH8F10000","ProduceID":"19e6f09e-71d2-83e1-8000-0000dd594c75","ReservedCode1":"","ContentPropagator":"001191110108MACG2KBH8F20000","PropagateID":"19e6f09e-71d2-83e1-8000-0000dd594c75","ReservedCode2":""}</vt:lpwstr>
  </property>
</Properties>
</file>